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65A1B"/>
          </a:solidFill>
          <a:ln w="12700">
            <a:solidFill>
              <a:srgbClr val="C65A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02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600" kern="0" dirty="0">
                <a:solidFill>
                  <a:srgbClr val="C65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123444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Priorización</a:t>
            </a:r>
            <a:endParaRPr lang="en-US" sz="4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Órdenes de Producción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11480" y="315468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Comité de Planeación  ·  28 de mayo de 2026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3703320"/>
            <a:ext cx="3474720" cy="438912"/>
          </a:xfrm>
          <a:prstGeom prst="roundRect">
            <a:avLst>
              <a:gd name="adj" fmla="val 12500"/>
            </a:avLst>
          </a:prstGeom>
          <a:solidFill>
            <a:srgbClr val="C65A1B"/>
          </a:solidFill>
          <a:ln w="12700">
            <a:solidFill>
              <a:srgbClr val="C65A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70332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validación y acuerdo del equipo directivo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4297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Miguel · Santiago · Anabel · Mateo · Milton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80960" y="2926080"/>
            <a:ext cx="2011680" cy="2011680"/>
          </a:xfrm>
          <a:prstGeom prst="ellipse">
            <a:avLst/>
          </a:prstGeom>
          <a:solidFill>
            <a:srgbClr val="C65A1B">
              <a:alpha val="12000"/>
            </a:srgbClr>
          </a:solidFill>
          <a:ln w="12700">
            <a:solidFill>
              <a:srgbClr val="C65A1B">
                <a:alpha val="2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65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CONTEXTO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93776"/>
            <a:ext cx="8046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Muchas OPs compiten por los mismos recursos al mismo tiempo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481328"/>
            <a:ext cx="2743200" cy="3017520"/>
          </a:xfrm>
          <a:prstGeom prst="rect">
            <a:avLst/>
          </a:prstGeom>
          <a:solidFill>
            <a:srgbClr val="C65A1B"/>
          </a:solidFill>
          <a:ln w="12700">
            <a:solidFill>
              <a:srgbClr val="C65A1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0352" y="16642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limitados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30352" y="2194560"/>
            <a:ext cx="1828800" cy="0"/>
          </a:xfrm>
          <a:prstGeom prst="line">
            <a:avLst/>
          </a:prstGeom>
          <a:noFill/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233172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Trazo, corte y satélites tienen capacidad finita. No todo puede avanzar al tiempo.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481328"/>
            <a:ext cx="2743200" cy="301752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10712" y="16642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muy distintas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410712" y="2194560"/>
            <a:ext cx="1828800" cy="0"/>
          </a:xfrm>
          <a:prstGeom prst="line">
            <a:avLst/>
          </a:prstGeom>
          <a:noFill/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0712" y="233172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OP es diferente en cliente, volumen, complejidad y fecha de entrega.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1481328"/>
            <a:ext cx="2743200" cy="30175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91072" y="16642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criterio claro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91072" y="2194560"/>
            <a:ext cx="1828800" cy="0"/>
          </a:xfrm>
          <a:prstGeom prst="line">
            <a:avLst/>
          </a:prstGeom>
          <a:noFill/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91072" y="233172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un marco acordado, la decisión depende de quién habla más fuerte ese día.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solución: un score de prioridad acordado por el equipo, aplicado a cada OP antes de asignar recursos.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65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FLUJO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93776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para gestionar, no para cerrar puertas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01168" y="1261872"/>
            <a:ext cx="2057400" cy="3520440"/>
          </a:xfrm>
          <a:prstGeom prst="rect">
            <a:avLst/>
          </a:prstGeom>
          <a:solidFill>
            <a:srgbClr val="FDE8D8"/>
          </a:solidFill>
          <a:ln w="25400">
            <a:solidFill>
              <a:srgbClr val="C65A1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53312"/>
            <a:ext cx="411480" cy="411480"/>
          </a:xfrm>
          <a:prstGeom prst="ellipse">
            <a:avLst/>
          </a:prstGeom>
          <a:solidFill>
            <a:srgbClr val="C65A1B"/>
          </a:solidFill>
          <a:ln w="12700">
            <a:solidFill>
              <a:srgbClr val="C65A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353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92608" y="1874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4048" y="2423160"/>
            <a:ext cx="1645920" cy="0"/>
          </a:xfrm>
          <a:prstGeom prst="line">
            <a:avLst/>
          </a:prstGeom>
          <a:noFill/>
          <a:ln w="12700">
            <a:solidFill>
              <a:srgbClr val="C65A1B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2514600"/>
            <a:ext cx="190195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score ordena la fila.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OP entra con su puntaje.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31136" y="2697480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395728" y="1261872"/>
            <a:ext cx="2057400" cy="3520440"/>
          </a:xfrm>
          <a:prstGeom prst="rect">
            <a:avLst/>
          </a:prstGeom>
          <a:solidFill>
            <a:srgbClr val="D6E8F2"/>
          </a:solidFill>
          <a:ln w="25400">
            <a:solidFill>
              <a:srgbClr val="1F7A8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1353312"/>
            <a:ext cx="411480" cy="41148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1353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487168" y="1874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578608" y="2423160"/>
            <a:ext cx="1645920" cy="0"/>
          </a:xfrm>
          <a:prstGeom prst="line">
            <a:avLst/>
          </a:prstGeom>
          <a:noFill/>
          <a:ln w="12700">
            <a:solidFill>
              <a:srgbClr val="1F7A8C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87168" y="2514600"/>
            <a:ext cx="190195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OPs avanzan en orden.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comité detecta cuellos de botella en tiempo real.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25696" y="2697480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90288" y="1261872"/>
            <a:ext cx="2057400" cy="3520440"/>
          </a:xfrm>
          <a:prstGeom prst="rect">
            <a:avLst/>
          </a:prstGeom>
          <a:solidFill>
            <a:srgbClr val="D6F0E0"/>
          </a:solidFill>
          <a:ln w="25400">
            <a:solidFill>
              <a:srgbClr val="1A7A4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353312"/>
            <a:ext cx="411480" cy="411480"/>
          </a:xfrm>
          <a:prstGeom prst="ellipse">
            <a:avLst/>
          </a:prstGeom>
          <a:solidFill>
            <a:srgbClr val="1A7A45"/>
          </a:solidFill>
          <a:ln w="12700">
            <a:solidFill>
              <a:srgbClr val="1A7A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1353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81728" y="1874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 CAPACIDAD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73168" y="2423160"/>
            <a:ext cx="1645920" cy="0"/>
          </a:xfrm>
          <a:prstGeom prst="line">
            <a:avLst/>
          </a:prstGeom>
          <a:noFill/>
          <a:ln w="12700">
            <a:solidFill>
              <a:srgbClr val="1A7A45">
                <a:alpha val="6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1728" y="2514600"/>
            <a:ext cx="190195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planes A, B, C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punto de producción.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20256" y="2697480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784848" y="1261872"/>
            <a:ext cx="2057400" cy="3520440"/>
          </a:xfrm>
          <a:prstGeom prst="rect">
            <a:avLst/>
          </a:prstGeom>
          <a:solidFill>
            <a:srgbClr val="FFF3CD"/>
          </a:solidFill>
          <a:ln w="25400">
            <a:solidFill>
              <a:srgbClr val="B886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58000" y="1353312"/>
            <a:ext cx="411480" cy="41148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0" y="1353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76288" y="1874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ÚLTIMO RECURSO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967728" y="2423160"/>
            <a:ext cx="1645920" cy="0"/>
          </a:xfrm>
          <a:prstGeom prst="line">
            <a:avLst/>
          </a:prstGeom>
          <a:noFill/>
          <a:ln w="12700">
            <a:solidFill>
              <a:srgbClr val="B8860B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76288" y="2514600"/>
            <a:ext cx="190195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con evidencia de que se agotaron las palancas: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negociar fecha o escalar al cliente.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FFF3CD"/>
          </a:solidFill>
          <a:ln w="12700">
            <a:solidFill>
              <a:srgbClr val="F0C040"/>
            </a:solidFill>
            <a:prstDash val="solid"/>
          </a:ln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782312"/>
            <a:ext cx="237744" cy="237744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594360" y="4709160"/>
            <a:ext cx="832104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proactiva al cliente: se activa cuando se detecta el riesgo (paso 2), no cuando ya se incumplió.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65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 DE CONTINGENCIA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6766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 · B · C por punto de producción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92240" y="475488"/>
            <a:ext cx="2468880" cy="384048"/>
          </a:xfrm>
          <a:prstGeom prst="roundRect">
            <a:avLst>
              <a:gd name="adj" fmla="val 11905"/>
            </a:avLst>
          </a:prstGeom>
          <a:solidFill>
            <a:srgbClr val="C65A1B">
              <a:alpha val="12000"/>
            </a:srgbClr>
          </a:solidFill>
          <a:ln w="12700">
            <a:solidFill>
              <a:srgbClr val="C65A1B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0" y="4754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5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completar con el equipo hoy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1078992"/>
            <a:ext cx="1380744" cy="5486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078992"/>
            <a:ext cx="1380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691640" y="1078992"/>
            <a:ext cx="1746504" cy="548640"/>
          </a:xfrm>
          <a:prstGeom prst="rect">
            <a:avLst/>
          </a:prstGeom>
          <a:solidFill>
            <a:srgbClr val="1A7A45"/>
          </a:solidFill>
          <a:ln w="12700">
            <a:solidFill>
              <a:srgbClr val="1A7A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91640" y="1078992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interna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520440" y="1078992"/>
            <a:ext cx="1746504" cy="54864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078992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B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Terceros / externos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349240" y="1078992"/>
            <a:ext cx="1746504" cy="548640"/>
          </a:xfrm>
          <a:prstGeom prst="rect">
            <a:avLst/>
          </a:prstGeom>
          <a:solidFill>
            <a:srgbClr val="C65A1B"/>
          </a:solidFill>
          <a:ln w="12700">
            <a:solidFill>
              <a:srgbClr val="C65A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49240" y="1078992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Último recurso operativo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178040" y="1078992"/>
            <a:ext cx="2112264" cy="548640"/>
          </a:xfrm>
          <a:prstGeom prst="rect">
            <a:avLst/>
          </a:prstGeom>
          <a:solidFill>
            <a:srgbClr val="7A5800"/>
          </a:solidFill>
          <a:ln w="12700">
            <a:solidFill>
              <a:srgbClr val="7A58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78040" y="1078992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CLIENTE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1682496"/>
            <a:ext cx="1380744" cy="621792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719072"/>
            <a:ext cx="1216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691640" y="1682496"/>
            <a:ext cx="1746504" cy="621792"/>
          </a:xfrm>
          <a:prstGeom prst="rect">
            <a:avLst/>
          </a:prstGeom>
          <a:solidFill>
            <a:srgbClr val="F8FB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83080" y="1719072"/>
            <a:ext cx="1581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 adicional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máquina de corte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520440" y="1682496"/>
            <a:ext cx="1746504" cy="621792"/>
          </a:xfrm>
          <a:prstGeom prst="rect">
            <a:avLst/>
          </a:prstGeom>
          <a:solidFill>
            <a:srgbClr val="F8FB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11880" y="1719072"/>
            <a:ext cx="1581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Satélites con capacidad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corte / corte externo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349240" y="1682496"/>
            <a:ext cx="1746504" cy="621792"/>
          </a:xfrm>
          <a:prstGeom prst="rect">
            <a:avLst/>
          </a:prstGeom>
          <a:solidFill>
            <a:srgbClr val="F8FB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40680" y="1719072"/>
            <a:ext cx="1581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Reprogramar inicio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OP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178040" y="1682496"/>
            <a:ext cx="2112264" cy="621792"/>
          </a:xfrm>
          <a:prstGeom prst="rect">
            <a:avLst/>
          </a:prstGeom>
          <a:solidFill>
            <a:srgbClr val="F8FB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69480" y="1719072"/>
            <a:ext cx="1947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detectar retraso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corte: avisar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cliente en &lt; 24 h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2377440"/>
            <a:ext cx="1380744" cy="621792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2414016"/>
            <a:ext cx="1216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691640" y="2377440"/>
            <a:ext cx="1746504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783080" y="2414016"/>
            <a:ext cx="1581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personas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mesa de trazo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520440" y="2377440"/>
            <a:ext cx="1746504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11880" y="2414016"/>
            <a:ext cx="1581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Digitalizar trazo /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tercero especializado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349240" y="2377440"/>
            <a:ext cx="1746504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40680" y="2414016"/>
            <a:ext cx="1581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patrones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trazados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178040" y="2377440"/>
            <a:ext cx="2112264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69480" y="2414016"/>
            <a:ext cx="1947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definir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equipo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28600" y="3072384"/>
            <a:ext cx="1380744" cy="621792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3108960"/>
            <a:ext cx="1216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SATÉLITES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691640" y="3072384"/>
            <a:ext cx="1746504" cy="621792"/>
          </a:xfrm>
          <a:prstGeom prst="rect">
            <a:avLst/>
          </a:prstGeom>
          <a:solidFill>
            <a:srgbClr val="F8FB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783080" y="3108960"/>
            <a:ext cx="1581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Redistribuir entre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satélites existentes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520440" y="3072384"/>
            <a:ext cx="1746504" cy="621792"/>
          </a:xfrm>
          <a:prstGeom prst="rect">
            <a:avLst/>
          </a:prstGeom>
          <a:solidFill>
            <a:srgbClr val="F8FB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11880" y="3108960"/>
            <a:ext cx="1581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Incorporar nuevo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satélite activamente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349240" y="3072384"/>
            <a:ext cx="1746504" cy="621792"/>
          </a:xfrm>
          <a:prstGeom prst="rect">
            <a:avLst/>
          </a:prstGeom>
          <a:solidFill>
            <a:srgbClr val="F8FB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40680" y="3108960"/>
            <a:ext cx="1581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Renegociar fecha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entrega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178040" y="3072384"/>
            <a:ext cx="2112264" cy="621792"/>
          </a:xfrm>
          <a:prstGeom prst="rect">
            <a:avLst/>
          </a:prstGeom>
          <a:solidFill>
            <a:srgbClr val="F8FB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69480" y="3108960"/>
            <a:ext cx="1947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Comunicar al cliente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se detecta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cuello de botella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28600" y="3767328"/>
            <a:ext cx="1380744" cy="621792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" y="3803904"/>
            <a:ext cx="1216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TIQUETEO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EMPAQUE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691640" y="3767328"/>
            <a:ext cx="1746504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783080" y="3803904"/>
            <a:ext cx="1581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 adicional /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personal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520440" y="3767328"/>
            <a:ext cx="1746504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11880" y="3803904"/>
            <a:ext cx="1581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Tercero de tiqueteo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empaque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349240" y="3767328"/>
            <a:ext cx="1746504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40680" y="3803904"/>
            <a:ext cx="1581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definir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equipo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7178040" y="3767328"/>
            <a:ext cx="2112264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269480" y="3803904"/>
            <a:ext cx="1947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definir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equipo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0" y="4544568"/>
            <a:ext cx="9144000" cy="598932"/>
          </a:xfrm>
          <a:prstGeom prst="rect">
            <a:avLst/>
          </a:prstGeom>
          <a:solidFill>
            <a:srgbClr val="FFF3CD"/>
          </a:solidFill>
          <a:ln w="12700">
            <a:solidFill>
              <a:srgbClr val="F0C040"/>
            </a:solidFill>
            <a:prstDash val="solid"/>
          </a:ln>
        </p:spPr>
      </p:sp>
      <p:pic>
        <p:nvPicPr>
          <p:cNvPr id="5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4681728"/>
            <a:ext cx="237744" cy="237744"/>
          </a:xfrm>
          <a:prstGeom prst="rect">
            <a:avLst/>
          </a:prstGeom>
        </p:spPr>
      </p:pic>
      <p:sp>
        <p:nvSpPr>
          <p:cNvPr id="59" name="Text 56"/>
          <p:cNvSpPr/>
          <p:nvPr/>
        </p:nvSpPr>
        <p:spPr>
          <a:xfrm>
            <a:off x="566928" y="4544568"/>
            <a:ext cx="8321040" cy="598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oro: la comunicación al cliente se activa en el paso 2 (Gestionar), no en el paso 4. Avisar tarde es peor que avisar pronto.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65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93776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prioridad: lógica del modelo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2468880" cy="2194560"/>
          </a:xfrm>
          <a:prstGeom prst="rect">
            <a:avLst/>
          </a:prstGeom>
          <a:solidFill>
            <a:srgbClr val="D6F0E0"/>
          </a:solidFill>
          <a:ln w="25400">
            <a:solidFill>
              <a:srgbClr val="1A7A4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53619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 COMPLETA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1920240" cy="0"/>
          </a:xfrm>
          <a:prstGeom prst="line">
            <a:avLst/>
          </a:prstGeom>
          <a:noFill/>
          <a:ln w="12700">
            <a:solidFill>
              <a:srgbClr val="1A7A45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67128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Compuerta de entrada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es criterio de score)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07208" y="230428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71800" y="1371600"/>
            <a:ext cx="2468880" cy="2194560"/>
          </a:xfrm>
          <a:prstGeom prst="rect">
            <a:avLst/>
          </a:prstGeom>
          <a:solidFill>
            <a:srgbClr val="D6E8F2"/>
          </a:solidFill>
          <a:ln w="25400">
            <a:solidFill>
              <a:srgbClr val="1F7A8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108960" y="153619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0–100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108960" y="2057400"/>
            <a:ext cx="1920240" cy="0"/>
          </a:xfrm>
          <a:prstGeom prst="line">
            <a:avLst/>
          </a:prstGeom>
          <a:noFill/>
          <a:ln w="12700">
            <a:solidFill>
              <a:srgbClr val="1F7A8C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0" y="2167128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criterios ponderados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definen el puntaje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58968" y="230428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23560" y="1371600"/>
            <a:ext cx="2468880" cy="2194560"/>
          </a:xfrm>
          <a:prstGeom prst="rect">
            <a:avLst/>
          </a:prstGeom>
          <a:solidFill>
            <a:srgbClr val="FDE8D8"/>
          </a:solidFill>
          <a:ln w="25400">
            <a:solidFill>
              <a:srgbClr val="C65A1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760720" y="153619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5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COMITÉ DECIDE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760720" y="2057400"/>
            <a:ext cx="1920240" cy="0"/>
          </a:xfrm>
          <a:prstGeom prst="line">
            <a:avLst/>
          </a:prstGeom>
          <a:noFill/>
          <a:ln w="12700">
            <a:solidFill>
              <a:srgbClr val="C65A1B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2167128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score es el punto de partida.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ajusta con contexto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712464"/>
            <a:ext cx="8503920" cy="1078992"/>
          </a:xfrm>
          <a:prstGeom prst="rect">
            <a:avLst/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58768"/>
            <a:ext cx="246888" cy="24688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22960" y="384048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OP sin F0 completa no entra a la fila de producción — independientemente del score.</a:t>
            </a:r>
            <a:endParaRPr lang="en-US" sz="12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206240"/>
            <a:ext cx="246888" cy="24688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822960" y="418795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score ordena; el comité decide. Si hay contexto comercial o de caja que el número no refleja, el equipo ajusta.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65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5 CRITERIOS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prioridad  ·  Total 100 puntos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70432"/>
            <a:ext cx="64008" cy="1600200"/>
          </a:xfrm>
          <a:prstGeom prst="rect">
            <a:avLst/>
          </a:prstGeom>
          <a:solidFill>
            <a:srgbClr val="C65A1B"/>
          </a:solidFill>
          <a:ln w="12700">
            <a:solidFill>
              <a:srgbClr val="C65A1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9768" y="1335024"/>
            <a:ext cx="402336" cy="402336"/>
          </a:xfrm>
          <a:prstGeom prst="ellipse">
            <a:avLst/>
          </a:prstGeom>
          <a:solidFill>
            <a:srgbClr val="FDE8D8"/>
          </a:solidFill>
          <a:ln w="12700">
            <a:solidFill>
              <a:srgbClr val="FDE8D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" y="1371600"/>
            <a:ext cx="329184" cy="32918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606040" y="1316736"/>
            <a:ext cx="338328" cy="310896"/>
          </a:xfrm>
          <a:prstGeom prst="rect">
            <a:avLst/>
          </a:prstGeom>
          <a:solidFill>
            <a:srgbClr val="C65A1B"/>
          </a:solidFill>
          <a:ln w="12700">
            <a:solidFill>
              <a:srgbClr val="C65A1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606040" y="1316736"/>
            <a:ext cx="338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pts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914400" y="1353312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Urgencia / Slack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29768" y="1764792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0 días: 35 pts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1–7 días: 25 pts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8–15 días: 15 pts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16–30 días: 5 pts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30 días: 0 pts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172968" y="1170432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172968" y="1170432"/>
            <a:ext cx="64008" cy="1600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28416" y="1335024"/>
            <a:ext cx="402336" cy="402336"/>
          </a:xfrm>
          <a:prstGeom prst="ellipse">
            <a:avLst/>
          </a:prstGeom>
          <a:solidFill>
            <a:srgbClr val="D6E8F2"/>
          </a:solidFill>
          <a:ln w="12700">
            <a:solidFill>
              <a:srgbClr val="D6E8F2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1371600"/>
            <a:ext cx="329184" cy="329184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504688" y="1316736"/>
            <a:ext cx="338328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504688" y="1316736"/>
            <a:ext cx="338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pts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813048" y="1353312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Obligación Contractual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3328416" y="1764792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con penalización: 20 pts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sin penalización: 12 pts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recurrente s/contrato: 6 pts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6071616" y="1170432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071616" y="1170432"/>
            <a:ext cx="64008" cy="160020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227064" y="1335024"/>
            <a:ext cx="402336" cy="402336"/>
          </a:xfrm>
          <a:prstGeom prst="ellipse">
            <a:avLst/>
          </a:prstGeom>
          <a:solidFill>
            <a:srgbClr val="D6F0E0"/>
          </a:solidFill>
          <a:ln w="12700">
            <a:solidFill>
              <a:srgbClr val="D6F0E0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71600"/>
            <a:ext cx="329184" cy="329184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8403336" y="1316736"/>
            <a:ext cx="338328" cy="310896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403336" y="1316736"/>
            <a:ext cx="338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pts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6711696" y="1353312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Estratégico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6227064" y="1764792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tier 1: 20 pts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vez: 15 pts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tier 2: 10 pts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estándar: 4 pts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594360" y="2907792"/>
            <a:ext cx="3977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594360" y="2907792"/>
            <a:ext cx="64008" cy="1600200"/>
          </a:xfrm>
          <a:prstGeom prst="rect">
            <a:avLst/>
          </a:prstGeom>
          <a:solidFill>
            <a:srgbClr val="6B4C9A"/>
          </a:solidFill>
          <a:ln w="12700">
            <a:solidFill>
              <a:srgbClr val="6B4C9A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3072384"/>
            <a:ext cx="402336" cy="402336"/>
          </a:xfrm>
          <a:prstGeom prst="ellipse">
            <a:avLst/>
          </a:prstGeom>
          <a:solidFill>
            <a:srgbClr val="EDE8FA"/>
          </a:solidFill>
          <a:ln w="12700">
            <a:solidFill>
              <a:srgbClr val="EDE8FA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3108960"/>
            <a:ext cx="329184" cy="329184"/>
          </a:xfrm>
          <a:prstGeom prst="rect">
            <a:avLst/>
          </a:prstGeom>
        </p:spPr>
      </p:pic>
      <p:sp>
        <p:nvSpPr>
          <p:cNvPr id="33" name="Shape 27"/>
          <p:cNvSpPr/>
          <p:nvPr/>
        </p:nvSpPr>
        <p:spPr>
          <a:xfrm>
            <a:off x="4160520" y="3054096"/>
            <a:ext cx="338328" cy="310896"/>
          </a:xfrm>
          <a:prstGeom prst="rect">
            <a:avLst/>
          </a:prstGeom>
          <a:solidFill>
            <a:srgbClr val="6B4C9A"/>
          </a:solidFill>
          <a:ln w="12700">
            <a:solidFill>
              <a:srgbClr val="6B4C9A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4160520" y="3054096"/>
            <a:ext cx="338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pts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1234440" y="3090672"/>
            <a:ext cx="2898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 / Complejidad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749808" y="3502152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Complejidad  —  Alta (muchas refs.): 5 pts  /  Media: 3 pts  /  Baja: 1 pt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Velocidad de ejecución  —  1 ref. + alto vol.: 5 pts  /  Mix: 3 pts  /  Muchas refs. + bajo vol.: 1 pt</a:t>
            </a:r>
            <a:endParaRPr lang="en-US" sz="950" dirty="0"/>
          </a:p>
        </p:txBody>
      </p:sp>
      <p:sp>
        <p:nvSpPr>
          <p:cNvPr id="37" name="Text 31"/>
          <p:cNvSpPr/>
          <p:nvPr/>
        </p:nvSpPr>
        <p:spPr>
          <a:xfrm>
            <a:off x="749808" y="42793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prioriza lo que toma más tiempo  ·  B prioriza lo que factura más rápido</a:t>
            </a:r>
            <a:endParaRPr lang="en-US" sz="850" dirty="0"/>
          </a:p>
        </p:txBody>
      </p:sp>
      <p:sp>
        <p:nvSpPr>
          <p:cNvPr id="38" name="Shape 32"/>
          <p:cNvSpPr/>
          <p:nvPr/>
        </p:nvSpPr>
        <p:spPr>
          <a:xfrm>
            <a:off x="4572000" y="2907792"/>
            <a:ext cx="3977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4572000" y="2907792"/>
            <a:ext cx="64008" cy="16002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4727448" y="3072384"/>
            <a:ext cx="402336" cy="402336"/>
          </a:xfrm>
          <a:prstGeom prst="ellipse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4024" y="3108960"/>
            <a:ext cx="329184" cy="329184"/>
          </a:xfrm>
          <a:prstGeom prst="rect">
            <a:avLst/>
          </a:prstGeom>
        </p:spPr>
      </p:pic>
      <p:sp>
        <p:nvSpPr>
          <p:cNvPr id="42" name="Shape 35"/>
          <p:cNvSpPr/>
          <p:nvPr/>
        </p:nvSpPr>
        <p:spPr>
          <a:xfrm>
            <a:off x="8138160" y="3054096"/>
            <a:ext cx="338328" cy="310896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8138160" y="3054096"/>
            <a:ext cx="338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pts</a:t>
            </a:r>
            <a:endParaRPr lang="en-US" sz="900" dirty="0"/>
          </a:p>
        </p:txBody>
      </p:sp>
      <p:sp>
        <p:nvSpPr>
          <p:cNvPr id="44" name="Text 37"/>
          <p:cNvSpPr/>
          <p:nvPr/>
        </p:nvSpPr>
        <p:spPr>
          <a:xfrm>
            <a:off x="5212080" y="3090672"/>
            <a:ext cx="2898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en Caja</a:t>
            </a:r>
            <a:endParaRPr lang="en-US" sz="1150" dirty="0"/>
          </a:p>
        </p:txBody>
      </p:sp>
      <p:sp>
        <p:nvSpPr>
          <p:cNvPr id="45" name="Text 38"/>
          <p:cNvSpPr/>
          <p:nvPr/>
        </p:nvSpPr>
        <p:spPr>
          <a:xfrm>
            <a:off x="4727448" y="3502152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anticipado o ≤ 30 días: 15 pts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30–60 días: 8 pts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&gt; 60 días: 3 pts</a:t>
            </a:r>
            <a:endParaRPr lang="en-US" sz="950" dirty="0"/>
          </a:p>
        </p:txBody>
      </p:sp>
      <p:sp>
        <p:nvSpPr>
          <p:cNvPr id="46" name="Text 39"/>
          <p:cNvSpPr/>
          <p:nvPr/>
        </p:nvSpPr>
        <p:spPr>
          <a:xfrm>
            <a:off x="4727448" y="42793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Considerar: capital invertido en tela e insumos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65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PRÁCTICO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el score ordena tres OPs que compiten por corte el mismo día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115568"/>
            <a:ext cx="1792224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115568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/ Cliente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03120" y="1115568"/>
            <a:ext cx="1060704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03120" y="1115568"/>
            <a:ext cx="10607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Urgencia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pts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1840" y="1115568"/>
            <a:ext cx="1152144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115568"/>
            <a:ext cx="1152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Contractual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26280" y="1115568"/>
            <a:ext cx="1152144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115568"/>
            <a:ext cx="1152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Estratégico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760720" y="1115568"/>
            <a:ext cx="1060704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0" y="1115568"/>
            <a:ext cx="10607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903720" y="1115568"/>
            <a:ext cx="1060704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03720" y="1115568"/>
            <a:ext cx="10607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046720" y="1115568"/>
            <a:ext cx="1060704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0" y="1115568"/>
            <a:ext cx="10607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" y="1645920"/>
            <a:ext cx="1792224" cy="749808"/>
          </a:xfrm>
          <a:prstGeom prst="rect">
            <a:avLst/>
          </a:prstGeom>
          <a:solidFill>
            <a:srgbClr val="F8FB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3464" y="1682496"/>
            <a:ext cx="17007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OP-6626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AVIANCA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103120" y="1645920"/>
            <a:ext cx="1060704" cy="749808"/>
          </a:xfrm>
          <a:prstGeom prst="rect">
            <a:avLst/>
          </a:prstGeom>
          <a:solidFill>
            <a:srgbClr val="F8FB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57984" y="1682496"/>
            <a:ext cx="9692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pts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4d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91840" y="1645920"/>
            <a:ext cx="1152144" cy="749808"/>
          </a:xfrm>
          <a:prstGeom prst="rect">
            <a:avLst/>
          </a:prstGeom>
          <a:solidFill>
            <a:srgbClr val="F8FB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46704" y="1682496"/>
            <a:ext cx="10607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pts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C/ penaliz.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26280" y="1645920"/>
            <a:ext cx="1152144" cy="749808"/>
          </a:xfrm>
          <a:prstGeom prst="rect">
            <a:avLst/>
          </a:prstGeom>
          <a:solidFill>
            <a:srgbClr val="F8FB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81144" y="1682496"/>
            <a:ext cx="10607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pts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760720" y="1645920"/>
            <a:ext cx="1060704" cy="749808"/>
          </a:xfrm>
          <a:prstGeom prst="rect">
            <a:avLst/>
          </a:prstGeom>
          <a:solidFill>
            <a:srgbClr val="F8FB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15584" y="1682496"/>
            <a:ext cx="9692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pts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903720" y="1645920"/>
            <a:ext cx="1060704" cy="749808"/>
          </a:xfrm>
          <a:prstGeom prst="rect">
            <a:avLst/>
          </a:prstGeom>
          <a:solidFill>
            <a:srgbClr val="F8FB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58584" y="1682496"/>
            <a:ext cx="9692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pts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046720" y="1645920"/>
            <a:ext cx="1060704" cy="749808"/>
          </a:xfrm>
          <a:prstGeom prst="rect">
            <a:avLst/>
          </a:prstGeom>
          <a:solidFill>
            <a:srgbClr val="D6F0E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83296" y="1645920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1°  83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228600" y="2514600"/>
            <a:ext cx="1792224" cy="749808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3464" y="2551176"/>
            <a:ext cx="17007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OP-6639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TALMA COLOMBIA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103120" y="2514600"/>
            <a:ext cx="1060704" cy="749808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57984" y="2551176"/>
            <a:ext cx="9692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pts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18d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91840" y="2514600"/>
            <a:ext cx="1152144" cy="749808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46704" y="2551176"/>
            <a:ext cx="10607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pts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C/ penaliz.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26280" y="2514600"/>
            <a:ext cx="1152144" cy="749808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81144" y="2551176"/>
            <a:ext cx="10607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pts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760720" y="2514600"/>
            <a:ext cx="1060704" cy="749808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15584" y="2551176"/>
            <a:ext cx="9692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pts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903720" y="2514600"/>
            <a:ext cx="1060704" cy="749808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58584" y="2551176"/>
            <a:ext cx="9692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pts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046720" y="2514600"/>
            <a:ext cx="1060704" cy="749808"/>
          </a:xfrm>
          <a:prstGeom prst="rect">
            <a:avLst/>
          </a:prstGeom>
          <a:solidFill>
            <a:srgbClr val="FFF3C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083296" y="2514600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2°  63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228600" y="3383280"/>
            <a:ext cx="1792224" cy="749808"/>
          </a:xfrm>
          <a:prstGeom prst="rect">
            <a:avLst/>
          </a:prstGeom>
          <a:solidFill>
            <a:srgbClr val="F8FB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83464" y="3419856"/>
            <a:ext cx="17007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OP-6473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AEROSAN S.A.S.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103120" y="3383280"/>
            <a:ext cx="1060704" cy="749808"/>
          </a:xfrm>
          <a:prstGeom prst="rect">
            <a:avLst/>
          </a:prstGeom>
          <a:solidFill>
            <a:srgbClr val="F8FB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157984" y="3419856"/>
            <a:ext cx="9692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pts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12d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291840" y="3383280"/>
            <a:ext cx="1152144" cy="749808"/>
          </a:xfrm>
          <a:prstGeom prst="rect">
            <a:avLst/>
          </a:prstGeom>
          <a:solidFill>
            <a:srgbClr val="F8FB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346704" y="3419856"/>
            <a:ext cx="10607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pts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526280" y="3383280"/>
            <a:ext cx="1152144" cy="749808"/>
          </a:xfrm>
          <a:prstGeom prst="rect">
            <a:avLst/>
          </a:prstGeom>
          <a:solidFill>
            <a:srgbClr val="F8FB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81144" y="3419856"/>
            <a:ext cx="10607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pts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760720" y="3383280"/>
            <a:ext cx="1060704" cy="749808"/>
          </a:xfrm>
          <a:prstGeom prst="rect">
            <a:avLst/>
          </a:prstGeom>
          <a:solidFill>
            <a:srgbClr val="F8FB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815584" y="3419856"/>
            <a:ext cx="9692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pts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903720" y="3383280"/>
            <a:ext cx="1060704" cy="749808"/>
          </a:xfrm>
          <a:prstGeom prst="rect">
            <a:avLst/>
          </a:prstGeom>
          <a:solidFill>
            <a:srgbClr val="F8FB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958584" y="3419856"/>
            <a:ext cx="9692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pts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90d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8046720" y="3383280"/>
            <a:ext cx="1060704" cy="749808"/>
          </a:xfrm>
          <a:prstGeom prst="rect">
            <a:avLst/>
          </a:prstGeom>
          <a:solidFill>
            <a:srgbClr val="FEF3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083296" y="3383280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3°  30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228600" y="431596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valores son ilustrativos. Los criterios de complejidad e impacto en caja se ajustarán con el equipo.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228600" y="4663440"/>
            <a:ext cx="8686800" cy="384048"/>
          </a:xfrm>
          <a:prstGeom prst="rect">
            <a:avLst/>
          </a:prstGeom>
          <a:solidFill>
            <a:srgbClr val="FFF3CD"/>
          </a:solidFill>
          <a:ln w="12700">
            <a:solidFill>
              <a:srgbClr val="F0C040"/>
            </a:solidFill>
            <a:prstDash val="solid"/>
          </a:ln>
        </p:spPr>
      </p:sp>
      <p:pic>
        <p:nvPicPr>
          <p:cNvPr id="6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4754880"/>
            <a:ext cx="201168" cy="201168"/>
          </a:xfrm>
          <a:prstGeom prst="rect">
            <a:avLst/>
          </a:prstGeom>
        </p:spPr>
      </p:pic>
      <p:sp>
        <p:nvSpPr>
          <p:cNvPr id="64" name="Text 61"/>
          <p:cNvSpPr/>
          <p:nvPr/>
        </p:nvSpPr>
        <p:spPr>
          <a:xfrm>
            <a:off x="594360" y="466344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Talma: pese al score más bajo que Avianca, su alta complejidad y contrato activo la mantienen en gestión activa — no en espera pasiva.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65A1B"/>
          </a:solidFill>
          <a:ln w="12700">
            <a:solidFill>
              <a:srgbClr val="C65A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65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VALIDAMOS HOY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Acuerdos de esta sesión y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paso concreto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8745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5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HOY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30428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30428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5 bloques del score y su lógica</a:t>
            </a:r>
            <a:endParaRPr lang="en-US" sz="11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0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274320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pesos (35 / 20 / 20 / 10 / 15)</a:t>
            </a:r>
            <a:endParaRPr lang="en-US" sz="11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182112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31520" y="318211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 como compuerta de entrada, no criterio</a:t>
            </a:r>
            <a:endParaRPr lang="en-US" sz="11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621024"/>
            <a:ext cx="237744" cy="2377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31520" y="362102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flujo: priorizar → gestionar → ampliar → escalar</a:t>
            </a:r>
            <a:endParaRPr lang="en-US" sz="11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4059936"/>
            <a:ext cx="237744" cy="23774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31520" y="405993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 A, B, C por punto de producción</a:t>
            </a:r>
            <a:endParaRPr lang="en-US" sz="1150" dirty="0"/>
          </a:p>
        </p:txBody>
      </p:sp>
      <p:sp>
        <p:nvSpPr>
          <p:cNvPr id="16" name="Shape 9"/>
          <p:cNvSpPr/>
          <p:nvPr/>
        </p:nvSpPr>
        <p:spPr>
          <a:xfrm>
            <a:off x="4663440" y="1874520"/>
            <a:ext cx="0" cy="292608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4892040" y="18745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5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 — PRÓXIMO COMITÉ</a:t>
            </a:r>
            <a:endParaRPr lang="en-US" sz="1100" dirty="0"/>
          </a:p>
        </p:txBody>
      </p:sp>
      <p:sp>
        <p:nvSpPr>
          <p:cNvPr id="18" name="Shape 11"/>
          <p:cNvSpPr/>
          <p:nvPr/>
        </p:nvSpPr>
        <p:spPr>
          <a:xfrm>
            <a:off x="4892040" y="2304288"/>
            <a:ext cx="3931920" cy="13716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5047488" y="2423160"/>
            <a:ext cx="3611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la lista de clientes estratégicos
</a:t>
            </a:r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A8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Quiénes son tier 1 y tier 2 para Molt hoy.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A8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decisión activa el bloque estratégico del score.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4892040" y="3794760"/>
            <a:ext cx="3931920" cy="960120"/>
          </a:xfrm>
          <a:prstGeom prst="rect">
            <a:avLst/>
          </a:prstGeom>
          <a:solidFill>
            <a:srgbClr val="C65A1B">
              <a:alpha val="15000"/>
            </a:srgbClr>
          </a:solidFill>
          <a:ln w="12700">
            <a:solidFill>
              <a:srgbClr val="C65A1B">
                <a:alpha val="30000"/>
              </a:srgbClr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5047488" y="3858768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ClickUp ya existe el campo 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"Score prioridad"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Mateo lo configuró anticipando este modelo.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acordado, el score se registra directamente en cada OP.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2026-05-28T19:39:32Z</dcterms:created>
  <dcterms:modified xsi:type="dcterms:W3CDTF">2026-05-28T19:39:32Z</dcterms:modified>
</cp:coreProperties>
</file>